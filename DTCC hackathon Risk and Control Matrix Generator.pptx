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ji Haq" userId="8fde0640db5bd322" providerId="LiveId" clId="{17D8EF00-0383-4B1A-A2EC-B757108C1903}"/>
    <pc:docChg chg="undo custSel modSld">
      <pc:chgData name="Fiji Haq" userId="8fde0640db5bd322" providerId="LiveId" clId="{17D8EF00-0383-4B1A-A2EC-B757108C1903}" dt="2026-02-26T12:58:03.768" v="24" actId="478"/>
      <pc:docMkLst>
        <pc:docMk/>
      </pc:docMkLst>
      <pc:sldChg chg="addSp delSp modSp mod">
        <pc:chgData name="Fiji Haq" userId="8fde0640db5bd322" providerId="LiveId" clId="{17D8EF00-0383-4B1A-A2EC-B757108C1903}" dt="2026-02-26T12:58:03.768" v="24" actId="478"/>
        <pc:sldMkLst>
          <pc:docMk/>
          <pc:sldMk cId="3127560336" sldId="256"/>
        </pc:sldMkLst>
        <pc:spChg chg="mod">
          <ac:chgData name="Fiji Haq" userId="8fde0640db5bd322" providerId="LiveId" clId="{17D8EF00-0383-4B1A-A2EC-B757108C1903}" dt="2026-02-26T11:35:35.636" v="22" actId="20577"/>
          <ac:spMkLst>
            <pc:docMk/>
            <pc:sldMk cId="3127560336" sldId="256"/>
            <ac:spMk id="3" creationId="{510BA1F0-EEBD-5E98-74B5-DD0265769E25}"/>
          </ac:spMkLst>
        </pc:spChg>
        <pc:graphicFrameChg chg="add del modGraphic">
          <ac:chgData name="Fiji Haq" userId="8fde0640db5bd322" providerId="LiveId" clId="{17D8EF00-0383-4B1A-A2EC-B757108C1903}" dt="2026-02-26T12:58:03.768" v="24" actId="478"/>
          <ac:graphicFrameMkLst>
            <pc:docMk/>
            <pc:sldMk cId="3127560336" sldId="256"/>
            <ac:graphicFrameMk id="5" creationId="{889D9780-35D4-7BE7-892A-A09D38B97F20}"/>
          </ac:graphicFrameMkLst>
        </pc:graphicFrameChg>
      </pc:sldChg>
      <pc:sldChg chg="addSp modSp mod">
        <pc:chgData name="Fiji Haq" userId="8fde0640db5bd322" providerId="LiveId" clId="{17D8EF00-0383-4B1A-A2EC-B757108C1903}" dt="2026-02-26T11:23:48.581" v="12" actId="27636"/>
        <pc:sldMkLst>
          <pc:docMk/>
          <pc:sldMk cId="3201093279" sldId="257"/>
        </pc:sldMkLst>
        <pc:spChg chg="mod">
          <ac:chgData name="Fiji Haq" userId="8fde0640db5bd322" providerId="LiveId" clId="{17D8EF00-0383-4B1A-A2EC-B757108C1903}" dt="2026-02-26T11:23:32.084" v="7" actId="1076"/>
          <ac:spMkLst>
            <pc:docMk/>
            <pc:sldMk cId="3201093279" sldId="257"/>
            <ac:spMk id="2" creationId="{8DABFF0F-EE05-6741-36E5-964B0E12E4AE}"/>
          </ac:spMkLst>
        </pc:spChg>
        <pc:spChg chg="mod">
          <ac:chgData name="Fiji Haq" userId="8fde0640db5bd322" providerId="LiveId" clId="{17D8EF00-0383-4B1A-A2EC-B757108C1903}" dt="2026-02-26T11:23:48.581" v="12" actId="27636"/>
          <ac:spMkLst>
            <pc:docMk/>
            <pc:sldMk cId="3201093279" sldId="257"/>
            <ac:spMk id="3" creationId="{CFA083F8-EB03-F8EA-5C5C-40400E6C49BD}"/>
          </ac:spMkLst>
        </pc:spChg>
        <pc:picChg chg="add mod">
          <ac:chgData name="Fiji Haq" userId="8fde0640db5bd322" providerId="LiveId" clId="{17D8EF00-0383-4B1A-A2EC-B757108C1903}" dt="2026-02-26T11:23:25.071" v="5" actId="27614"/>
          <ac:picMkLst>
            <pc:docMk/>
            <pc:sldMk cId="3201093279" sldId="257"/>
            <ac:picMk id="5" creationId="{8AD27487-4883-706E-FC3F-50D173A0C38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C9BC870F-D159-4A5B-9716-4C2DB7D518C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515CFD4-33EE-4DCF-B240-D0AF0CD41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851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870F-D159-4A5B-9716-4C2DB7D518C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CFD4-33EE-4DCF-B240-D0AF0CD41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868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870F-D159-4A5B-9716-4C2DB7D518C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CFD4-33EE-4DCF-B240-D0AF0CD41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348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870F-D159-4A5B-9716-4C2DB7D518C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CFD4-33EE-4DCF-B240-D0AF0CD41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598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870F-D159-4A5B-9716-4C2DB7D518C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CFD4-33EE-4DCF-B240-D0AF0CD41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234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870F-D159-4A5B-9716-4C2DB7D518C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CFD4-33EE-4DCF-B240-D0AF0CD41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680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870F-D159-4A5B-9716-4C2DB7D518C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CFD4-33EE-4DCF-B240-D0AF0CD41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63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870F-D159-4A5B-9716-4C2DB7D518C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0515CFD4-33EE-4DCF-B240-D0AF0CD41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202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C9BC870F-D159-4A5B-9716-4C2DB7D518C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515CFD4-33EE-4DCF-B240-D0AF0CD41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815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870F-D159-4A5B-9716-4C2DB7D518C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CFD4-33EE-4DCF-B240-D0AF0CD41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250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870F-D159-4A5B-9716-4C2DB7D518C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CFD4-33EE-4DCF-B240-D0AF0CD41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39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C9BC870F-D159-4A5B-9716-4C2DB7D518C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0515CFD4-33EE-4DCF-B240-D0AF0CD41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802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22FD1-0D47-79CF-40C8-18AD27265D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4064" y="2009331"/>
            <a:ext cx="9144000" cy="2387600"/>
          </a:xfrm>
        </p:spPr>
        <p:txBody>
          <a:bodyPr>
            <a:normAutofit/>
          </a:bodyPr>
          <a:lstStyle/>
          <a:p>
            <a:r>
              <a:rPr lang="en-IN" sz="8000" b="1" dirty="0"/>
              <a:t>Risk &amp; Control </a:t>
            </a:r>
            <a:br>
              <a:rPr lang="en-IN" sz="8000" b="1" dirty="0"/>
            </a:br>
            <a:r>
              <a:rPr lang="en-IN" sz="8000" b="1" dirty="0"/>
              <a:t>Matrix Generator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BA1F0-EEBD-5E98-74B5-DD0265769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4064" y="1355186"/>
            <a:ext cx="9393936" cy="455326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DTCC Hackathon –  Internal Audit &amp; Assurance</a:t>
            </a:r>
          </a:p>
        </p:txBody>
      </p:sp>
    </p:spTree>
    <p:extLst>
      <p:ext uri="{BB962C8B-B14F-4D97-AF65-F5344CB8AC3E}">
        <p14:creationId xmlns:p14="http://schemas.microsoft.com/office/powerpoint/2010/main" val="3127560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BFF0F-EE05-6741-36E5-964B0E12E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1404" y="1203829"/>
            <a:ext cx="3383280" cy="67691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400" b="1" i="1" dirty="0"/>
              <a:t>Risk &amp; Control Matrix Generator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083F8-EB03-F8EA-5C5C-40400E6C4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530047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Manual creation of risk &amp; control test matrices is time-consuming and inconsistent.</a:t>
            </a:r>
          </a:p>
          <a:p>
            <a:pPr marL="0" indent="0">
              <a:buNone/>
            </a:pP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simple web form powered by AI that generates tailored risk &amp; control matrices with test steps.</a:t>
            </a:r>
          </a:p>
          <a:p>
            <a:pPr marL="0" indent="0">
              <a:buNone/>
            </a:pPr>
            <a:b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Choose control type (Tech/Operations)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framework (Internal, COBIT, NIST)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priority preferences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Optional: number of tests &amp; upload internal standards</a:t>
            </a:r>
          </a:p>
          <a:p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Saves time, ensures consistency, aligns with frameworks.</a:t>
            </a:r>
          </a:p>
          <a:p>
            <a:pPr marL="0" indent="0">
              <a:buNone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The image is a user interface for a Risk and Control Matrix Generator, featuring input fields for various types of control testing, preferences, and optional uploads.&#10;&#10;AI-generated content may be incorrect.">
            <a:extLst>
              <a:ext uri="{FF2B5EF4-FFF2-40B4-BE49-F238E27FC236}">
                <a16:creationId xmlns:a16="http://schemas.microsoft.com/office/drawing/2014/main" id="{8AD27487-4883-706E-FC3F-50D173A0C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6294" y="1886712"/>
            <a:ext cx="3613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093279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14</TotalTime>
  <Words>100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Wingdings</vt:lpstr>
      <vt:lpstr>Metropolitan</vt:lpstr>
      <vt:lpstr>Risk &amp; Control  Matrix Generator</vt:lpstr>
      <vt:lpstr>Risk &amp; Control Matrix Generator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Fiji Haq</dc:creator>
  <cp:lastModifiedBy>Fiji Haq</cp:lastModifiedBy>
  <cp:revision>1</cp:revision>
  <dcterms:created xsi:type="dcterms:W3CDTF">2026-02-26T11:13:08Z</dcterms:created>
  <dcterms:modified xsi:type="dcterms:W3CDTF">2026-02-26T12:58:06Z</dcterms:modified>
</cp:coreProperties>
</file>